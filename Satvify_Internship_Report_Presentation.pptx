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Internship Report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Research &amp; Analytics Internship – Satvify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Customer Loyalty, Retention &amp; Early-Stage Customer Acquisition</a:t>
            </a:r>
          </a:p>
          <a:p>
            <a:pPr>
              <a:defRPr sz="2000"/>
            </a:pPr>
            <a:r>
              <a:t>Prepared by Diveshika Yadav</a:t>
            </a:r>
          </a:p>
          <a:p>
            <a:pPr>
              <a:defRPr sz="1800"/>
            </a:pPr>
            <a:r>
              <a:t>IILM University, Greater Noida |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Research &amp; Analytics Internship – Satvify</a:t>
            </a:r>
          </a:p>
          <a:p>
            <a:pPr>
              <a:spcAft>
                <a:spcPts val="900"/>
              </a:spcAft>
              <a:defRPr sz="2000"/>
            </a:pPr>
            <a:r>
              <a:t>Primary customer data collected through Google Forms</a:t>
            </a:r>
          </a:p>
          <a:p>
            <a:pPr>
              <a:spcAft>
                <a:spcPts val="900"/>
              </a:spcAft>
              <a:defRPr sz="2000"/>
            </a:pPr>
            <a:r>
              <a:t>Focus: loyalty, retention and early-stage acquisition</a:t>
            </a:r>
          </a:p>
          <a:p>
            <a:pPr>
              <a:spcAft>
                <a:spcPts val="900"/>
              </a:spcAft>
              <a:defRPr sz="2000"/>
            </a:pPr>
            <a:r>
              <a:t>Responses converted into percentage-based pie charts</a:t>
            </a:r>
          </a:p>
          <a:p>
            <a:pPr>
              <a:spcAft>
                <a:spcPts val="900"/>
              </a:spcAft>
              <a:defRPr sz="2000"/>
            </a:pPr>
            <a:r>
              <a:t>Objective: validate research observations and derive actionable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Survey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Customer Loyalty survey – 22 responses</a:t>
            </a:r>
          </a:p>
          <a:p>
            <a:pPr>
              <a:spcAft>
                <a:spcPts val="900"/>
              </a:spcAft>
              <a:defRPr sz="2000"/>
            </a:pPr>
            <a:r>
              <a:t>Customer Retention survey – 15 responses</a:t>
            </a:r>
          </a:p>
          <a:p>
            <a:pPr>
              <a:spcAft>
                <a:spcPts val="900"/>
              </a:spcAft>
              <a:defRPr sz="2000"/>
            </a:pPr>
            <a:r>
              <a:t>Early-Stage Customer Acquisition survey – 23 responses</a:t>
            </a:r>
          </a:p>
          <a:p>
            <a:pPr>
              <a:spcAft>
                <a:spcPts val="900"/>
              </a:spcAft>
              <a:defRPr sz="2000"/>
            </a:pPr>
            <a:r>
              <a:t>Each survey set is analysed separately because sample sizes differ</a:t>
            </a:r>
          </a:p>
          <a:p>
            <a:pPr>
              <a:spcAft>
                <a:spcPts val="900"/>
              </a:spcAft>
              <a:defRPr sz="2000"/>
            </a:pPr>
            <a:r>
              <a:t>Results are directional insights from small convenience samples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Customer Loyalty – Strongest Loyalty Driver</a:t>
            </a:r>
          </a:p>
        </p:txBody>
      </p:sp>
      <p:pic>
        <p:nvPicPr>
          <p:cNvPr id="3" name="Picture 2" descr="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50112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High product quality was selected by 63.7%, making it the strongest loyalty driver.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Customer Loyalty – Why Customers Stop Buying</a:t>
            </a:r>
          </a:p>
        </p:txBody>
      </p:sp>
      <p:pic>
        <p:nvPicPr>
          <p:cNvPr id="3" name="Picture 2" descr="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5146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Bad experience was the leading reason at 40.9%.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Customer Retention – Best Strategy</a:t>
            </a:r>
          </a:p>
        </p:txBody>
      </p:sp>
      <p:pic>
        <p:nvPicPr>
          <p:cNvPr id="3" name="Picture 2" descr="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5697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Membership benefits were the most preferred retention strategy at 53.3%.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Customer Retention – Special Offers</a:t>
            </a:r>
          </a:p>
        </p:txBody>
      </p:sp>
      <p:pic>
        <p:nvPicPr>
          <p:cNvPr id="3" name="Picture 2" descr="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5456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53.3% reported continuing a subscription because of special offers.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Customer Retention – Personalization</a:t>
            </a:r>
          </a:p>
        </p:txBody>
      </p:sp>
      <p:pic>
        <p:nvPicPr>
          <p:cNvPr id="3" name="Picture 2" descr="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594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Responses were split: 46.7% Yes and 46.7% No, showing mixed reactions.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Acquisition – Brand Discovery</a:t>
            </a:r>
          </a:p>
        </p:txBody>
      </p:sp>
      <p:pic>
        <p:nvPicPr>
          <p:cNvPr id="3" name="Picture 2" descr="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5616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Social media was the leading discovery channel at 56.5%.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Acquisition – Launch Offer</a:t>
            </a:r>
          </a:p>
        </p:txBody>
      </p:sp>
      <p:pic>
        <p:nvPicPr>
          <p:cNvPr id="3" name="Picture 2" descr="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54275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Discounts led at 52.2%, followed by referral rewards at 43.5%.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Acquisition – Trust</a:t>
            </a:r>
          </a:p>
        </p:txBody>
      </p:sp>
      <p:pic>
        <p:nvPicPr>
          <p:cNvPr id="3" name="Picture 2" descr="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6137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Reviews were the strongest trust-building factor at 60.9%.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Acquisition – Free Trials</a:t>
            </a:r>
          </a:p>
        </p:txBody>
      </p:sp>
      <p:pic>
        <p:nvPicPr>
          <p:cNvPr id="3" name="Picture 2" descr="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852160" cy="60299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/>
            </a:pPr>
            <a:r>
              <a:t>Key interpretation</a:t>
            </a:r>
          </a:p>
          <a:p>
            <a:pPr>
              <a:defRPr sz="1800"/>
            </a:pPr>
            <a:r>
              <a:t>43.5% said trials help conversion, while 34.8% said effectiveness depends on the product.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Consolidated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Quality and customer experience are central to loyalty.</a:t>
            </a:r>
          </a:p>
          <a:p>
            <a:pPr>
              <a:spcAft>
                <a:spcPts val="900"/>
              </a:spcAft>
              <a:defRPr sz="1800"/>
            </a:pPr>
            <a:r>
              <a:t>Membership benefits and special offers can support retention.</a:t>
            </a:r>
          </a:p>
          <a:p>
            <a:pPr>
              <a:spcAft>
                <a:spcPts val="900"/>
              </a:spcAft>
              <a:defRPr sz="1800"/>
            </a:pPr>
            <a:r>
              <a:t>Social media is the strongest discovery channel in the acquisition survey.</a:t>
            </a:r>
          </a:p>
          <a:p>
            <a:pPr>
              <a:spcAft>
                <a:spcPts val="900"/>
              </a:spcAft>
              <a:defRPr sz="1800"/>
            </a:pPr>
            <a:r>
              <a:t>Reviews are a major trust-building mechanism.</a:t>
            </a:r>
          </a:p>
          <a:p>
            <a:pPr>
              <a:spcAft>
                <a:spcPts val="900"/>
              </a:spcAft>
              <a:defRPr sz="1800"/>
            </a:pPr>
            <a:r>
              <a:t>Discounts and referral rewards can support launch campaigns.</a:t>
            </a:r>
          </a:p>
          <a:p>
            <a:pPr>
              <a:spcAft>
                <a:spcPts val="900"/>
              </a:spcAft>
              <a:defRPr sz="1800"/>
            </a:pPr>
            <a:r>
              <a:t>Personalization should be relevant rather than simply frequent.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Prioritise consistent product quality and customer experience.</a:t>
            </a:r>
          </a:p>
          <a:p>
            <a:pPr>
              <a:spcAft>
                <a:spcPts val="900"/>
              </a:spcAft>
              <a:defRPr sz="1800"/>
            </a:pPr>
            <a:r>
              <a:t>Use membership benefits and carefully designed offers for retention.</a:t>
            </a:r>
          </a:p>
          <a:p>
            <a:pPr>
              <a:spcAft>
                <a:spcPts val="900"/>
              </a:spcAft>
              <a:defRPr sz="1800"/>
            </a:pPr>
            <a:r>
              <a:t>Build acquisition around social media, reviews and customer proof.</a:t>
            </a:r>
          </a:p>
          <a:p>
            <a:pPr>
              <a:spcAft>
                <a:spcPts val="900"/>
              </a:spcAft>
              <a:defRPr sz="1800"/>
            </a:pPr>
            <a:r>
              <a:t>Use discounts and referral rewards strategically.</a:t>
            </a:r>
          </a:p>
          <a:p>
            <a:pPr>
              <a:spcAft>
                <a:spcPts val="900"/>
              </a:spcAft>
              <a:defRPr sz="1800"/>
            </a:pPr>
            <a:r>
              <a:t>Offer trials where value can be demonstrated quickly.</a:t>
            </a:r>
          </a:p>
          <a:p>
            <a:pPr>
              <a:spcAft>
                <a:spcPts val="900"/>
              </a:spcAft>
              <a:defRPr sz="1800"/>
            </a:pPr>
            <a:r>
              <a:t>Keep personalization relevant and customer-focused.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Satvify Subscription-Plan FAQs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20 customer-facing FAQs were documented.</a:t>
            </a:r>
          </a:p>
          <a:p>
            <a:pPr>
              <a:spcAft>
                <a:spcPts val="900"/>
              </a:spcAft>
              <a:defRPr sz="1800"/>
            </a:pPr>
            <a:r>
              <a:t>Topics include: Satvify overview, Satvic/vegan positioning, ordering and subscription plans.</a:t>
            </a:r>
          </a:p>
          <a:p>
            <a:pPr>
              <a:spcAft>
                <a:spcPts val="900"/>
              </a:spcAft>
              <a:defRPr sz="1800"/>
            </a:pPr>
            <a:r>
              <a:t>Also covers customization, best-selling items, delivery, payment methods and contact.</a:t>
            </a:r>
          </a:p>
          <a:p>
            <a:pPr>
              <a:spcAft>
                <a:spcPts val="900"/>
              </a:spcAft>
              <a:defRPr sz="1800"/>
            </a:pPr>
            <a:r>
              <a:t>FAQ content is based on the supplied Satvify FAQ document.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Internship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Primary-data collection and survey interpretation</a:t>
            </a:r>
          </a:p>
          <a:p>
            <a:pPr>
              <a:spcAft>
                <a:spcPts val="900"/>
              </a:spcAft>
              <a:defRPr sz="1800"/>
            </a:pPr>
            <a:r>
              <a:t>Percentage-based data presentation</a:t>
            </a:r>
          </a:p>
          <a:p>
            <a:pPr>
              <a:spcAft>
                <a:spcPts val="900"/>
              </a:spcAft>
              <a:defRPr sz="1800"/>
            </a:pPr>
            <a:r>
              <a:t>Customer behaviour analysis</a:t>
            </a:r>
          </a:p>
          <a:p>
            <a:pPr>
              <a:spcAft>
                <a:spcPts val="900"/>
              </a:spcAft>
              <a:defRPr sz="1800"/>
            </a:pPr>
            <a:r>
              <a:t>Turning findings into business recommendations</a:t>
            </a:r>
          </a:p>
          <a:p>
            <a:pPr>
              <a:spcAft>
                <a:spcPts val="900"/>
              </a:spcAft>
              <a:defRPr sz="1800"/>
            </a:pPr>
            <a:r>
              <a:t>Professional documentation and presentation</a:t>
            </a:r>
          </a:p>
          <a:p>
            <a:pPr>
              <a:spcAft>
                <a:spcPts val="900"/>
              </a:spcAft>
              <a:defRPr sz="1800"/>
            </a:pPr>
            <a:r>
              <a:t>Customer-focused communication through FAQs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Small samples of 15–23 respondents</a:t>
            </a:r>
          </a:p>
          <a:p>
            <a:pPr>
              <a:spcAft>
                <a:spcPts val="900"/>
              </a:spcAft>
              <a:defRPr sz="1800"/>
            </a:pPr>
            <a:r>
              <a:t>Convenience sampling</a:t>
            </a:r>
          </a:p>
          <a:p>
            <a:pPr>
              <a:spcAft>
                <a:spcPts val="900"/>
              </a:spcAft>
              <a:defRPr sz="1800"/>
            </a:pPr>
            <a:r>
              <a:t>Findings are directional rather than population-representative</a:t>
            </a:r>
          </a:p>
          <a:p>
            <a:pPr>
              <a:spcAft>
                <a:spcPts val="900"/>
              </a:spcAft>
              <a:defRPr sz="1800"/>
            </a:pPr>
            <a:r>
              <a:t>Different survey sets should not be artificially merged into one respondent count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Survey evidence supports the major research themes covered during the internship.</a:t>
            </a:r>
          </a:p>
          <a:p>
            <a:pPr>
              <a:spcAft>
                <a:spcPts val="900"/>
              </a:spcAft>
              <a:defRPr sz="1900"/>
            </a:pPr>
            <a:r>
              <a:t>Quality, experience, membership benefits, social media, reviews and offers emerged as important customer factors.</a:t>
            </a:r>
          </a:p>
          <a:p>
            <a:pPr>
              <a:spcAft>
                <a:spcPts val="900"/>
              </a:spcAft>
              <a:defRPr sz="1900"/>
            </a:pPr>
            <a:r>
              <a:t>The findings provide a practical base for loyalty, retention and early-stage acquisition recommendations.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560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